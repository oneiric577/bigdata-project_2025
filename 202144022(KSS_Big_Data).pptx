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sldIdLst>
    <p:sldId id="256" r:id="rId5"/>
    <p:sldId id="260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19F5B9-D886-FE91-E08D-A6DB1DF27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68DB59-B7F4-A1C4-F051-E504A2B04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1F5E29-B75D-F8F2-23C9-CB3BA99CC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0E6A-2F4D-474F-8C1A-8D8D5AED6197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1C54CD-4A9F-A6F5-6781-0C4A5C354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CC25DE-DF9E-0198-5030-B17F3699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8405-422E-4FD0-A927-C00EC81A4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020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E61C4-0DEC-AB23-88BA-23C3A4EC4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E8DD92-9539-DBA6-BD68-9E49CD3EB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C86D6A-0C29-FD42-5609-8CD13E634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0E6A-2F4D-474F-8C1A-8D8D5AED6197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2B331C-B515-2D8D-C67E-476E842C5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D43242-AD9A-79B0-ADE4-E46F77D1A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8405-422E-4FD0-A927-C00EC81A43B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A439229-A52E-646D-88BA-A338910D1C4B}"/>
              </a:ext>
            </a:extLst>
          </p:cNvPr>
          <p:cNvSpPr/>
          <p:nvPr userDrawn="1"/>
        </p:nvSpPr>
        <p:spPr>
          <a:xfrm>
            <a:off x="838200" y="1375259"/>
            <a:ext cx="10515600" cy="457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D0446E-73FB-3DB3-182B-57A7379B9429}"/>
              </a:ext>
            </a:extLst>
          </p:cNvPr>
          <p:cNvSpPr/>
          <p:nvPr userDrawn="1"/>
        </p:nvSpPr>
        <p:spPr>
          <a:xfrm>
            <a:off x="1" y="6678060"/>
            <a:ext cx="12192000" cy="1799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292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9E7B8-7AEB-E6D5-982C-ABEBB3947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F09853-BF29-EFEC-D566-B0B16E073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3A93D8-729E-4A99-5C6A-B1D7DEC2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0E6A-2F4D-474F-8C1A-8D8D5AED6197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FBBEC5-916A-E05F-EC86-9967CEA21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6930EB-2BF5-72E5-7E10-6718D856E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8405-422E-4FD0-A927-C00EC81A4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41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00D60-CCE0-A687-650C-4950C7FB8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693631-4CCA-944B-8253-8D1B59976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5A06AD-8A6F-3924-E21E-255D7C3E5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39B59F-1190-C940-058F-47BA76DF2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0E6A-2F4D-474F-8C1A-8D8D5AED6197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2BF40B-E2CD-44E9-ABE6-43A0AD519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F1618A-FCBD-4973-9714-D140858FC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8405-422E-4FD0-A927-C00EC81A4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48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2BE81-7C7B-5C92-2A75-F81EA676E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817C3C-9DDD-7B4D-1837-2F3176D32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DDBC55-FCE5-ECE8-47F5-0C7160BE8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6BAED4A-AC57-7B9C-544C-F18DF6DA9A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5891FA-D4D6-EF9D-B394-A2DABF0A60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7E164D-B921-009C-2D03-04F687017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0E6A-2F4D-474F-8C1A-8D8D5AED6197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3CC8DB-828B-A743-62EF-48969AC4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05A663-E21D-FE55-332A-93C2E0B9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8405-422E-4FD0-A927-C00EC81A4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00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1B609-AEBC-7BC2-02E0-D4C400E5A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9352C-712C-8465-BB7E-A1EBA3269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0E6A-2F4D-474F-8C1A-8D8D5AED6197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B32D57-EBDD-50A6-5C74-6AAB520B4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422A1E-08CB-92CB-5485-BBFB67F9B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8405-422E-4FD0-A927-C00EC81A4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46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4A7721-55CC-6EF5-380E-2C603B643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0E6A-2F4D-474F-8C1A-8D8D5AED6197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F2DD7EF-D3C6-F7CF-52E3-946A72410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FCB5CF-124C-4E4A-8EB9-FC0452CF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8405-422E-4FD0-A927-C00EC81A4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44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B98980-50DE-47C9-E4B0-81925DD64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47BE2B-0952-1EE6-D6B3-F6990F291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037E54-52A4-2E36-1FAA-085B19C30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493571-E206-0D35-B4E7-71BBB80FF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0E6A-2F4D-474F-8C1A-8D8D5AED6197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691033-55D6-F345-8D50-455464368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50A833-C933-CF86-11ED-B1AFBDBF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8405-422E-4FD0-A927-C00EC81A4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7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173FC1-1C47-5F06-A6A9-02C51C602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077AB12-CF4D-893E-880A-878487D8E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92EFE1-4CF0-2847-FAC2-4E9CBDC6D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49F90A-7E83-3CBC-8CA9-5DDE15A1B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0E6A-2F4D-474F-8C1A-8D8D5AED6197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C64E34-5DB2-4243-374C-EC76860AC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07FEC7-0E9F-F51E-012D-FDCB3053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8405-422E-4FD0-A927-C00EC81A4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891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01D49C-4DDD-2959-7B02-73632C3F4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F8F256-2D32-6592-AB9B-A1223EC80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F8DAB7-A99A-7A5A-0B4C-9806FB46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0E6A-2F4D-474F-8C1A-8D8D5AED6197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BF2077-9B2F-FA5F-1620-45F5DC934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46B3D5-2ED1-6556-54F8-FE9B00D87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8405-422E-4FD0-A927-C00EC81A4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33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47B7B9-8E51-24BD-EA5C-EC65B7D48D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09FA84-4A7C-B3FE-03E1-0AB16C501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3C4B7F-4140-F68D-EDDF-F019F875E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70E6A-2F4D-474F-8C1A-8D8D5AED6197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9BE87E-269E-8F37-076F-4715D91A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739D0B-0682-E93A-3FC2-758A94CAE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8405-422E-4FD0-A927-C00EC81A4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741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63A7E55-3A75-1164-0CB8-76F64A364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55BBB9-0FD6-E085-D42F-C1277D1D1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AF9F31-E752-07C4-115A-51CC170FB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770E6A-2F4D-474F-8C1A-8D8D5AED6197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51BAED-8672-C807-D4BE-F324126C2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38F69B-B512-FC84-A1C8-ABA130327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468405-422E-4FD0-A927-C00EC81A4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844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.go.kr/data/15142922/fileData.do" TargetMode="External"/><Relationship Id="rId2" Type="http://schemas.openxmlformats.org/officeDocument/2006/relationships/hyperlink" Target="https://www.data.go.kr/data/15143009/fileData.do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hyperlink" Target="https://www.data.go.kr/data/15142802/fileData.do" TargetMode="External"/><Relationship Id="rId4" Type="http://schemas.openxmlformats.org/officeDocument/2006/relationships/hyperlink" Target="https://www.data.go.kr/data/15142936/fileData.do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neiric577/BigData-Project_2025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tile tx="-2540000" ty="0" sx="45000" sy="50000" flip="none" algn="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486003D-CC0A-D28F-73E4-402B7617CBFC}"/>
              </a:ext>
            </a:extLst>
          </p:cNvPr>
          <p:cNvSpPr txBox="1"/>
          <p:nvPr/>
        </p:nvSpPr>
        <p:spPr>
          <a:xfrm>
            <a:off x="6685165" y="1821101"/>
            <a:ext cx="51022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전국 각지의</a:t>
            </a:r>
            <a:endParaRPr lang="en-US" altLang="ko-KR" sz="4800" b="1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ko-KR" altLang="en-US" sz="4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전세사기 비율은 어느 정도 일까</a:t>
            </a:r>
            <a:r>
              <a:rPr lang="en-US" altLang="ko-KR" sz="4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endParaRPr lang="ko-KR" altLang="en-US" sz="4800" b="1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AD3BBB-56E2-C3EB-4C6A-E316BBABF908}"/>
              </a:ext>
            </a:extLst>
          </p:cNvPr>
          <p:cNvSpPr txBox="1"/>
          <p:nvPr/>
        </p:nvSpPr>
        <p:spPr>
          <a:xfrm>
            <a:off x="6685165" y="5466101"/>
            <a:ext cx="3863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지도 교수 </a:t>
            </a:r>
            <a:r>
              <a:rPr lang="en-US" altLang="ko-KR" sz="2400" b="1" dirty="0">
                <a:solidFill>
                  <a:schemeClr val="bg1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| </a:t>
            </a:r>
            <a:r>
              <a:rPr lang="ko-KR" altLang="en-US" sz="2400" b="1" dirty="0" err="1">
                <a:solidFill>
                  <a:schemeClr val="bg1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민정혜</a:t>
            </a:r>
            <a:r>
              <a:rPr lang="ko-KR" altLang="en-US" sz="2400" b="1" dirty="0">
                <a:solidFill>
                  <a:schemeClr val="bg1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교수님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549E87-2F78-0B9F-C8CF-FD885FDC627E}"/>
              </a:ext>
            </a:extLst>
          </p:cNvPr>
          <p:cNvSpPr txBox="1"/>
          <p:nvPr/>
        </p:nvSpPr>
        <p:spPr>
          <a:xfrm>
            <a:off x="6685165" y="4382264"/>
            <a:ext cx="3863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인하공전 컴퓨터정보과</a:t>
            </a:r>
            <a:endParaRPr lang="en-US" altLang="ko-KR" sz="2400" b="1" dirty="0">
              <a:solidFill>
                <a:schemeClr val="bg1"/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  <a:p>
            <a:r>
              <a:rPr lang="en-US" altLang="ko-KR" sz="2400" b="1" dirty="0">
                <a:solidFill>
                  <a:schemeClr val="bg1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202144022 </a:t>
            </a:r>
            <a:r>
              <a:rPr lang="ko-KR" altLang="en-US" sz="2400" b="1" dirty="0">
                <a:solidFill>
                  <a:schemeClr val="bg1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김 성 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FDD6F8-CE7C-7CC1-BD2A-CD25643677A3}"/>
              </a:ext>
            </a:extLst>
          </p:cNvPr>
          <p:cNvSpPr txBox="1"/>
          <p:nvPr/>
        </p:nvSpPr>
        <p:spPr>
          <a:xfrm>
            <a:off x="6685165" y="866994"/>
            <a:ext cx="42169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2025 Big-Data Project </a:t>
            </a:r>
          </a:p>
          <a:p>
            <a:r>
              <a:rPr lang="en-US" altLang="ko-K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&lt;Report&gt;</a:t>
            </a:r>
            <a:endParaRPr lang="ko-KR" altLang="en-US" sz="2800" b="1" dirty="0">
              <a:solidFill>
                <a:schemeClr val="tx2">
                  <a:lumMod val="50000"/>
                  <a:lumOff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1718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DB41C-A73B-E046-8459-B633010F8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372"/>
            <a:ext cx="10515600" cy="1325563"/>
          </a:xfrm>
        </p:spPr>
        <p:txBody>
          <a:bodyPr/>
          <a:lstStyle/>
          <a:p>
            <a:r>
              <a:rPr lang="ko-KR" altLang="en-US" b="1" dirty="0"/>
              <a:t>주제 선정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36B9B8-6557-8663-7A91-3043A69E9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624257"/>
            <a:ext cx="10832869" cy="1826141"/>
          </a:xfrm>
        </p:spPr>
        <p:txBody>
          <a:bodyPr wrap="square" anchor="ctr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400" dirty="0"/>
              <a:t>2022</a:t>
            </a:r>
            <a:r>
              <a:rPr lang="ko-KR" altLang="en-US" sz="2400" dirty="0"/>
              <a:t>년 </a:t>
            </a:r>
            <a:r>
              <a:rPr lang="en-US" altLang="ko-KR" sz="2400" dirty="0"/>
              <a:t>12</a:t>
            </a:r>
            <a:r>
              <a:rPr lang="ko-KR" altLang="en-US" sz="2400" dirty="0"/>
              <a:t>월 경 대한민국을 떠들썩하게 한 사건인</a:t>
            </a:r>
            <a:r>
              <a:rPr lang="en-US" altLang="ko-KR" sz="2400" dirty="0"/>
              <a:t> ‘2022</a:t>
            </a:r>
            <a:r>
              <a:rPr lang="ko-KR" altLang="en-US" sz="2400" dirty="0"/>
              <a:t>년 </a:t>
            </a:r>
            <a:r>
              <a:rPr lang="ko-KR" altLang="en-US" sz="2400" dirty="0" err="1"/>
              <a:t>빌라왕</a:t>
            </a:r>
            <a:r>
              <a:rPr lang="ko-KR" altLang="en-US" sz="2400" dirty="0"/>
              <a:t> 사태</a:t>
            </a:r>
            <a:r>
              <a:rPr lang="en-US" altLang="ko-KR" sz="2400" dirty="0"/>
              <a:t>’ </a:t>
            </a:r>
            <a:r>
              <a:rPr lang="ko-KR" altLang="en-US" sz="2400" dirty="0"/>
              <a:t>부터 시작하여</a:t>
            </a:r>
            <a:r>
              <a:rPr lang="en-US" altLang="ko-KR" sz="2400" dirty="0"/>
              <a:t>,</a:t>
            </a:r>
            <a:r>
              <a:rPr lang="ko-KR" altLang="en-US" sz="2400" dirty="0"/>
              <a:t> 오늘 날 </a:t>
            </a:r>
            <a:r>
              <a:rPr lang="en-US" altLang="ko-KR" sz="2400" dirty="0"/>
              <a:t>2025</a:t>
            </a:r>
            <a:r>
              <a:rPr lang="ko-KR" altLang="en-US" sz="2400" dirty="0"/>
              <a:t>년까지도 전세사기 사건은 계속 발생하고 있다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400" dirty="0"/>
              <a:t>이 피해의 비율이 전국적으로 어느 정도인지 파악하기 위해 이번 프로젝트</a:t>
            </a:r>
            <a:endParaRPr lang="en-US" altLang="ko-KR" sz="2400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400" dirty="0"/>
              <a:t>주제로 선정하게 되었다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pic>
        <p:nvPicPr>
          <p:cNvPr id="2050" name="Picture 2" descr="전세사기 공화국' 2년간 2.5조원 피해…환수 8%밖에 못했다 | 중앙일보">
            <a:extLst>
              <a:ext uri="{FF2B5EF4-FFF2-40B4-BE49-F238E27FC236}">
                <a16:creationId xmlns:a16="http://schemas.microsoft.com/office/drawing/2014/main" id="{3020A5DC-65CB-CB58-E4FA-661CA2E8B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749011"/>
            <a:ext cx="4596014" cy="2781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전세사기 | 유토이미지 검색 결과">
            <a:extLst>
              <a:ext uri="{FF2B5EF4-FFF2-40B4-BE49-F238E27FC236}">
                <a16:creationId xmlns:a16="http://schemas.microsoft.com/office/drawing/2014/main" id="{E2D24E98-690B-F041-66FE-4A9E06796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234" y="1749011"/>
            <a:ext cx="5027565" cy="2781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746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내용 개체 틀 4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05F346-28B5-89B9-C865-459EB4F55A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43204"/>
            <a:ext cx="10515600" cy="4719944"/>
          </a:xfrm>
          <a:ln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7DD515F-30D9-A5DD-6D97-24799013E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프로젝트 범위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C72596D-9014-03F5-C2B5-DC68AD7B7D73}"/>
              </a:ext>
            </a:extLst>
          </p:cNvPr>
          <p:cNvSpPr/>
          <p:nvPr/>
        </p:nvSpPr>
        <p:spPr>
          <a:xfrm>
            <a:off x="4070554" y="3696929"/>
            <a:ext cx="2222091" cy="11208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BFCC4CA-2195-D27D-DB0F-B2FB0FA1101C}"/>
              </a:ext>
            </a:extLst>
          </p:cNvPr>
          <p:cNvSpPr/>
          <p:nvPr/>
        </p:nvSpPr>
        <p:spPr>
          <a:xfrm>
            <a:off x="5928850" y="1898123"/>
            <a:ext cx="2222091" cy="11208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왼쪽 7">
            <a:extLst>
              <a:ext uri="{FF2B5EF4-FFF2-40B4-BE49-F238E27FC236}">
                <a16:creationId xmlns:a16="http://schemas.microsoft.com/office/drawing/2014/main" id="{56EB9FF8-8AA4-D201-B348-27A23BFEDC5E}"/>
              </a:ext>
            </a:extLst>
          </p:cNvPr>
          <p:cNvSpPr/>
          <p:nvPr/>
        </p:nvSpPr>
        <p:spPr>
          <a:xfrm rot="19027247">
            <a:off x="5475285" y="3093745"/>
            <a:ext cx="806245" cy="349276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5FBA7B3-E140-1081-99FF-2CF8A0D1871E}"/>
              </a:ext>
            </a:extLst>
          </p:cNvPr>
          <p:cNvSpPr/>
          <p:nvPr/>
        </p:nvSpPr>
        <p:spPr>
          <a:xfrm>
            <a:off x="6510237" y="4757313"/>
            <a:ext cx="2222091" cy="11208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2E7DE0D-8D30-98E6-7765-D6B91D2CB0AB}"/>
              </a:ext>
            </a:extLst>
          </p:cNvPr>
          <p:cNvSpPr/>
          <p:nvPr/>
        </p:nvSpPr>
        <p:spPr>
          <a:xfrm>
            <a:off x="8150941" y="2868767"/>
            <a:ext cx="2880853" cy="15336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7F22D8B-BB5F-A5BB-3174-F00AAE963480}"/>
              </a:ext>
            </a:extLst>
          </p:cNvPr>
          <p:cNvSpPr/>
          <p:nvPr/>
        </p:nvSpPr>
        <p:spPr>
          <a:xfrm>
            <a:off x="9436509" y="4652667"/>
            <a:ext cx="1595285" cy="8140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왼쪽 11">
            <a:extLst>
              <a:ext uri="{FF2B5EF4-FFF2-40B4-BE49-F238E27FC236}">
                <a16:creationId xmlns:a16="http://schemas.microsoft.com/office/drawing/2014/main" id="{320FBC35-CE93-E5E5-8327-79716645D88B}"/>
              </a:ext>
            </a:extLst>
          </p:cNvPr>
          <p:cNvSpPr/>
          <p:nvPr/>
        </p:nvSpPr>
        <p:spPr>
          <a:xfrm rot="12906969">
            <a:off x="6339844" y="4309243"/>
            <a:ext cx="806245" cy="349276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화살표: 왼쪽 12">
            <a:extLst>
              <a:ext uri="{FF2B5EF4-FFF2-40B4-BE49-F238E27FC236}">
                <a16:creationId xmlns:a16="http://schemas.microsoft.com/office/drawing/2014/main" id="{A5C8656A-95C2-3AE2-E9A3-022F215FB365}"/>
              </a:ext>
            </a:extLst>
          </p:cNvPr>
          <p:cNvSpPr/>
          <p:nvPr/>
        </p:nvSpPr>
        <p:spPr>
          <a:xfrm rot="12914336">
            <a:off x="8239202" y="2445428"/>
            <a:ext cx="806245" cy="349276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화살표: 왼쪽 13">
            <a:extLst>
              <a:ext uri="{FF2B5EF4-FFF2-40B4-BE49-F238E27FC236}">
                <a16:creationId xmlns:a16="http://schemas.microsoft.com/office/drawing/2014/main" id="{4EB7ED34-83AF-CEA1-BF53-5A67D48233BA}"/>
              </a:ext>
            </a:extLst>
          </p:cNvPr>
          <p:cNvSpPr/>
          <p:nvPr/>
        </p:nvSpPr>
        <p:spPr>
          <a:xfrm rot="16200000">
            <a:off x="10628672" y="4258741"/>
            <a:ext cx="806245" cy="349276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607F2008-7580-1839-3281-D0E22738C69E}"/>
              </a:ext>
            </a:extLst>
          </p:cNvPr>
          <p:cNvSpPr txBox="1">
            <a:spLocks/>
          </p:cNvSpPr>
          <p:nvPr/>
        </p:nvSpPr>
        <p:spPr>
          <a:xfrm>
            <a:off x="1387577" y="6313366"/>
            <a:ext cx="9416846" cy="40011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2000" dirty="0"/>
              <a:t>데이터 수집</a:t>
            </a:r>
            <a:r>
              <a:rPr lang="en-US" altLang="ko-KR" sz="2000" dirty="0"/>
              <a:t>(</a:t>
            </a:r>
            <a:r>
              <a:rPr lang="ko-KR" altLang="en-US" sz="2000" dirty="0" err="1"/>
              <a:t>공공포털</a:t>
            </a:r>
            <a:r>
              <a:rPr lang="en-US" altLang="ko-KR" sz="2000" dirty="0"/>
              <a:t>) -&gt; </a:t>
            </a:r>
            <a:r>
              <a:rPr lang="ko-KR" altLang="en-US" sz="2000" dirty="0"/>
              <a:t>데이터 가공</a:t>
            </a:r>
            <a:r>
              <a:rPr lang="en-US" altLang="ko-KR" sz="2000" dirty="0"/>
              <a:t>/</a:t>
            </a:r>
            <a:r>
              <a:rPr lang="ko-KR" altLang="en-US" sz="2000" dirty="0"/>
              <a:t>정제 </a:t>
            </a:r>
            <a:r>
              <a:rPr lang="en-US" altLang="ko-KR" sz="2000" dirty="0"/>
              <a:t>-&gt; </a:t>
            </a:r>
            <a:r>
              <a:rPr lang="ko-KR" altLang="en-US" sz="2000" dirty="0"/>
              <a:t>시각화 및 분석 </a:t>
            </a:r>
            <a:r>
              <a:rPr lang="en-US" altLang="ko-KR" sz="2000" dirty="0"/>
              <a:t>-&gt; </a:t>
            </a:r>
            <a:r>
              <a:rPr lang="ko-KR" altLang="en-US" sz="2000" dirty="0"/>
              <a:t>분석 결과</a:t>
            </a:r>
          </a:p>
        </p:txBody>
      </p:sp>
      <p:sp>
        <p:nvSpPr>
          <p:cNvPr id="19" name="화살표: 왼쪽 18">
            <a:extLst>
              <a:ext uri="{FF2B5EF4-FFF2-40B4-BE49-F238E27FC236}">
                <a16:creationId xmlns:a16="http://schemas.microsoft.com/office/drawing/2014/main" id="{F9DFE8EA-3040-900D-1135-C3141D74A871}"/>
              </a:ext>
            </a:extLst>
          </p:cNvPr>
          <p:cNvSpPr/>
          <p:nvPr/>
        </p:nvSpPr>
        <p:spPr>
          <a:xfrm rot="9363308">
            <a:off x="8711381" y="5317206"/>
            <a:ext cx="806245" cy="349276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2205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B665B-FF7E-A502-F8A0-0CE5EB8C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수집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E864470-8F65-5E30-9ABC-55C5F1C73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60369"/>
            <a:ext cx="10832869" cy="4882362"/>
          </a:xfrm>
        </p:spPr>
        <p:txBody>
          <a:bodyPr wrap="square" anchor="ctr">
            <a:spAutoFit/>
          </a:bodyPr>
          <a:lstStyle/>
          <a:p>
            <a:r>
              <a:rPr lang="ko-KR" altLang="en-US" sz="2000" dirty="0"/>
              <a:t>수집기간 </a:t>
            </a:r>
            <a:r>
              <a:rPr lang="en-US" altLang="ko-KR" sz="2000" dirty="0"/>
              <a:t>: 2025-08-25 ~ 2025-09-01</a:t>
            </a:r>
          </a:p>
          <a:p>
            <a:r>
              <a:rPr lang="ko-KR" altLang="en-US" sz="2000" dirty="0"/>
              <a:t>수집방법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공공데이터포털</a:t>
            </a: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  <a:p>
            <a:r>
              <a:rPr lang="ko-KR" altLang="en-US" sz="2400" b="1" dirty="0"/>
              <a:t>사용 데이터</a:t>
            </a:r>
          </a:p>
          <a:p>
            <a:r>
              <a:rPr lang="ko-KR" altLang="en-US" sz="2000" u="sng" dirty="0">
                <a:hlinkClick r:id="rId2"/>
              </a:rPr>
              <a:t>부산광역시</a:t>
            </a:r>
            <a:r>
              <a:rPr lang="en-US" altLang="ko-KR" sz="2000" u="sng" dirty="0">
                <a:hlinkClick r:id="rId2"/>
              </a:rPr>
              <a:t>_</a:t>
            </a:r>
            <a:r>
              <a:rPr lang="ko-KR" altLang="en-US" sz="2000" u="sng" dirty="0">
                <a:hlinkClick r:id="rId2"/>
              </a:rPr>
              <a:t>전세사기 발생건수</a:t>
            </a:r>
            <a:r>
              <a:rPr lang="en-US" altLang="ko-KR" sz="2000" u="sng" dirty="0">
                <a:hlinkClick r:id="rId2"/>
              </a:rPr>
              <a:t>_20250331.csv</a:t>
            </a:r>
            <a:endParaRPr lang="ko-KR" altLang="en-US" sz="2000" dirty="0"/>
          </a:p>
          <a:p>
            <a:r>
              <a:rPr lang="en-US" altLang="ko-KR" sz="2000" dirty="0"/>
              <a:t>-&gt; busan.csv</a:t>
            </a:r>
            <a:r>
              <a:rPr lang="ko-KR" altLang="en-US" sz="2000" dirty="0"/>
              <a:t>로 파일 이름 변경</a:t>
            </a:r>
          </a:p>
          <a:p>
            <a:r>
              <a:rPr lang="ko-KR" altLang="en-US" sz="2000" u="sng" dirty="0">
                <a:hlinkClick r:id="rId3"/>
              </a:rPr>
              <a:t>광주광역시</a:t>
            </a:r>
            <a:r>
              <a:rPr lang="en-US" altLang="ko-KR" sz="2000" u="sng" dirty="0">
                <a:hlinkClick r:id="rId3"/>
              </a:rPr>
              <a:t>_</a:t>
            </a:r>
            <a:r>
              <a:rPr lang="ko-KR" altLang="en-US" sz="2000" u="sng" dirty="0">
                <a:hlinkClick r:id="rId3"/>
              </a:rPr>
              <a:t>전세사기피해자 결정 현황</a:t>
            </a:r>
            <a:r>
              <a:rPr lang="en-US" altLang="ko-KR" sz="2000" u="sng" dirty="0">
                <a:hlinkClick r:id="rId3"/>
              </a:rPr>
              <a:t>_20250331.csv</a:t>
            </a:r>
            <a:endParaRPr lang="ko-KR" altLang="en-US" sz="2000" dirty="0"/>
          </a:p>
          <a:p>
            <a:r>
              <a:rPr lang="en-US" altLang="ko-KR" sz="2000" dirty="0"/>
              <a:t>-&gt; gwangju.csv</a:t>
            </a:r>
            <a:r>
              <a:rPr lang="ko-KR" altLang="en-US" sz="2000" dirty="0"/>
              <a:t>로 파일 이름 변경</a:t>
            </a:r>
          </a:p>
          <a:p>
            <a:r>
              <a:rPr lang="ko-KR" altLang="en-US" sz="2000" u="sng" dirty="0">
                <a:hlinkClick r:id="rId4"/>
              </a:rPr>
              <a:t>울산광역시</a:t>
            </a:r>
            <a:r>
              <a:rPr lang="en-US" altLang="ko-KR" sz="2000" u="sng" dirty="0">
                <a:hlinkClick r:id="rId4"/>
              </a:rPr>
              <a:t>_</a:t>
            </a:r>
            <a:r>
              <a:rPr lang="ko-KR" altLang="en-US" sz="2000" u="sng" dirty="0" err="1">
                <a:hlinkClick r:id="rId4"/>
              </a:rPr>
              <a:t>구군별</a:t>
            </a:r>
            <a:r>
              <a:rPr lang="ko-KR" altLang="en-US" sz="2000" u="sng" dirty="0">
                <a:hlinkClick r:id="rId4"/>
              </a:rPr>
              <a:t> 전세사기피해자 결정건수</a:t>
            </a:r>
            <a:r>
              <a:rPr lang="en-US" altLang="ko-KR" sz="2000" u="sng" dirty="0">
                <a:hlinkClick r:id="rId4"/>
              </a:rPr>
              <a:t>_20250228.csv</a:t>
            </a:r>
            <a:endParaRPr lang="ko-KR" altLang="en-US" sz="2000" dirty="0"/>
          </a:p>
          <a:p>
            <a:r>
              <a:rPr lang="en-US" altLang="ko-KR" sz="2000" dirty="0"/>
              <a:t>-&gt; ulsan.csv</a:t>
            </a:r>
            <a:r>
              <a:rPr lang="ko-KR" altLang="en-US" sz="2000" dirty="0"/>
              <a:t>로 파일 이름 변경</a:t>
            </a:r>
          </a:p>
          <a:p>
            <a:r>
              <a:rPr lang="ko-KR" altLang="en-US" sz="2000" u="sng" dirty="0">
                <a:hlinkClick r:id="rId5"/>
              </a:rPr>
              <a:t>인천광역시</a:t>
            </a:r>
            <a:r>
              <a:rPr lang="en-US" altLang="ko-KR" sz="2000" u="sng" dirty="0">
                <a:hlinkClick r:id="rId5"/>
              </a:rPr>
              <a:t>_</a:t>
            </a:r>
            <a:r>
              <a:rPr lang="ko-KR" altLang="en-US" sz="2000" u="sng" dirty="0">
                <a:hlinkClick r:id="rId5"/>
              </a:rPr>
              <a:t>연도별 연령별 전세사기 관련 통계</a:t>
            </a:r>
            <a:r>
              <a:rPr lang="en-US" altLang="ko-KR" sz="2000" u="sng" dirty="0">
                <a:hlinkClick r:id="rId5"/>
              </a:rPr>
              <a:t>_20250327.csv</a:t>
            </a:r>
            <a:endParaRPr lang="ko-KR" altLang="en-US" sz="2000" dirty="0"/>
          </a:p>
          <a:p>
            <a:r>
              <a:rPr lang="en-US" altLang="ko-KR" sz="2000" dirty="0"/>
              <a:t>-&gt; incheon.csv</a:t>
            </a:r>
            <a:r>
              <a:rPr lang="ko-KR" altLang="en-US" sz="2000" dirty="0"/>
              <a:t>로 파일 이름 변경</a:t>
            </a:r>
          </a:p>
        </p:txBody>
      </p:sp>
      <p:pic>
        <p:nvPicPr>
          <p:cNvPr id="10242" name="Picture 2" descr="공공데이터포털 (@koreadataportal) / Posts / X">
            <a:extLst>
              <a:ext uri="{FF2B5EF4-FFF2-40B4-BE49-F238E27FC236}">
                <a16:creationId xmlns:a16="http://schemas.microsoft.com/office/drawing/2014/main" id="{574F7581-15D9-C3DF-5844-59537F2E8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2489" y="2514049"/>
            <a:ext cx="2775002" cy="2775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968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A39B26-587D-4D38-F2A3-353DBBA3F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가공 및 정제</a:t>
            </a:r>
            <a:r>
              <a:rPr lang="en-US" altLang="ko-KR" b="1" dirty="0"/>
              <a:t>(</a:t>
            </a:r>
            <a:r>
              <a:rPr lang="ko-KR" altLang="en-US" b="1" dirty="0" err="1"/>
              <a:t>전처리</a:t>
            </a:r>
            <a:r>
              <a:rPr lang="en-US" altLang="ko-KR" b="1" dirty="0"/>
              <a:t>_</a:t>
            </a:r>
            <a:r>
              <a:rPr lang="ko-KR" altLang="en-US" b="1" dirty="0"/>
              <a:t>인천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CD6963-330B-0266-61EE-361FBCEAA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70175"/>
            <a:ext cx="4452817" cy="482270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158B1E0-2920-D096-CA03-2E9E13CFA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3994" y="2478942"/>
            <a:ext cx="5798574" cy="2949525"/>
          </a:xfrm>
        </p:spPr>
        <p:txBody>
          <a:bodyPr wrap="square" anchor="ctr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000" dirty="0"/>
              <a:t>변환 전 기존 데이터를 출력하여 변경할 부분 확인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문자열 데이터를 간략히 요약하여 정수형</a:t>
            </a:r>
            <a:br>
              <a:rPr lang="en-US" altLang="ko-KR" sz="2000" dirty="0"/>
            </a:br>
            <a:r>
              <a:rPr lang="ko-KR" altLang="en-US" sz="2000" dirty="0"/>
              <a:t>데이터로 재입력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불필요한 데이터 삭제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열 이름 재설정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변경된 </a:t>
            </a:r>
            <a:r>
              <a:rPr lang="en-US" altLang="ko-KR" sz="2000" dirty="0"/>
              <a:t>idf1</a:t>
            </a:r>
            <a:r>
              <a:rPr lang="ko-KR" altLang="en-US" sz="2000" dirty="0"/>
              <a:t>을 </a:t>
            </a:r>
            <a:r>
              <a:rPr lang="en-US" altLang="ko-KR" sz="2000" dirty="0"/>
              <a:t>idf2</a:t>
            </a:r>
            <a:r>
              <a:rPr lang="ko-KR" altLang="en-US" sz="2000" dirty="0"/>
              <a:t>로 복제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최종 변환 데이터 출력</a:t>
            </a:r>
          </a:p>
        </p:txBody>
      </p:sp>
    </p:spTree>
    <p:extLst>
      <p:ext uri="{BB962C8B-B14F-4D97-AF65-F5344CB8AC3E}">
        <p14:creationId xmlns:p14="http://schemas.microsoft.com/office/powerpoint/2010/main" val="2562940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838BF-7890-7DF7-4F5A-45070CBB1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61BF1-E64F-9D3F-F752-63BBB3278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가공 및 정제</a:t>
            </a:r>
            <a:r>
              <a:rPr lang="en-US" altLang="ko-KR" b="1" dirty="0"/>
              <a:t>(</a:t>
            </a:r>
            <a:r>
              <a:rPr lang="ko-KR" altLang="en-US" b="1" dirty="0" err="1"/>
              <a:t>전처리</a:t>
            </a:r>
            <a:r>
              <a:rPr lang="en-US" altLang="ko-KR" b="1" dirty="0"/>
              <a:t>_</a:t>
            </a:r>
            <a:r>
              <a:rPr lang="ko-KR" altLang="en-US" b="1" dirty="0"/>
              <a:t>부산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125774E-33A5-2476-AF00-945A077E7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3994" y="2543063"/>
            <a:ext cx="5798574" cy="2821285"/>
          </a:xfrm>
        </p:spPr>
        <p:txBody>
          <a:bodyPr wrap="square" anchor="ctr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000" dirty="0"/>
              <a:t>변환 전 기존 데이터를 출력하여 변경할 부분 확인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열 이름 중</a:t>
            </a:r>
            <a:r>
              <a:rPr lang="en-US" altLang="ko-KR" sz="2000" dirty="0"/>
              <a:t>, </a:t>
            </a:r>
            <a:r>
              <a:rPr lang="ko-KR" altLang="en-US" sz="2000" dirty="0"/>
              <a:t>연도에서 </a:t>
            </a:r>
            <a:r>
              <a:rPr lang="en-US" altLang="ko-KR" sz="2000" dirty="0"/>
              <a:t>‘</a:t>
            </a:r>
            <a:r>
              <a:rPr lang="ko-KR" altLang="en-US" sz="2000" dirty="0"/>
              <a:t>년</a:t>
            </a:r>
            <a:r>
              <a:rPr lang="en-US" altLang="ko-KR" sz="2000" dirty="0"/>
              <a:t>＇</a:t>
            </a:r>
            <a:r>
              <a:rPr lang="ko-KR" altLang="en-US" sz="2000" dirty="0"/>
              <a:t>을 제거한 정수형 데이터 입력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en-US" altLang="ko-KR" sz="2000" dirty="0"/>
              <a:t>‘</a:t>
            </a:r>
            <a:r>
              <a:rPr lang="ko-KR" altLang="en-US" sz="2000" dirty="0"/>
              <a:t>구별</a:t>
            </a:r>
            <a:r>
              <a:rPr lang="en-US" altLang="ko-KR" sz="2000" dirty="0"/>
              <a:t>’ </a:t>
            </a:r>
            <a:r>
              <a:rPr lang="ko-KR" altLang="en-US" sz="2000" dirty="0"/>
              <a:t>열을</a:t>
            </a:r>
            <a:r>
              <a:rPr lang="en-US" altLang="ko-KR" sz="2000" dirty="0"/>
              <a:t> </a:t>
            </a:r>
            <a:r>
              <a:rPr lang="ko-KR" altLang="en-US" sz="2000" dirty="0"/>
              <a:t>인덱스로 설정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en-US" altLang="ko-KR" sz="2000" dirty="0"/>
              <a:t>Stack</a:t>
            </a:r>
            <a:r>
              <a:rPr lang="ko-KR" altLang="en-US" sz="2000" dirty="0"/>
              <a:t> 함수를 사용하여 시각화하기 편한 자료로 변형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최종 변환 데이터 출력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2A0CCE-CD4F-60C2-3798-B10328442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35160"/>
            <a:ext cx="4549877" cy="465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794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8C214-B632-4ED1-07F4-47F575300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F2C13E-45FC-9B13-93A1-5CF20EC3D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가공 및 정제</a:t>
            </a:r>
            <a:r>
              <a:rPr lang="en-US" altLang="ko-KR" b="1" dirty="0"/>
              <a:t>(</a:t>
            </a:r>
            <a:r>
              <a:rPr lang="ko-KR" altLang="en-US" b="1" dirty="0" err="1"/>
              <a:t>전처리</a:t>
            </a:r>
            <a:r>
              <a:rPr lang="en-US" altLang="ko-KR" b="1" dirty="0"/>
              <a:t>_</a:t>
            </a:r>
            <a:r>
              <a:rPr lang="ko-KR" altLang="en-US" b="1" dirty="0"/>
              <a:t>광주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A56D2FC-7131-1203-A88F-5A49977F7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6677" y="2681562"/>
            <a:ext cx="6064045" cy="2544286"/>
          </a:xfrm>
        </p:spPr>
        <p:txBody>
          <a:bodyPr wrap="square" anchor="ctr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000" dirty="0"/>
              <a:t>변환 전 기존 데이터를 출력하여 변경할 부분 확인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en-US" altLang="ko-KR" sz="2000" dirty="0"/>
              <a:t>‘</a:t>
            </a:r>
            <a:r>
              <a:rPr lang="ko-KR" altLang="en-US" sz="2000" dirty="0"/>
              <a:t>연도</a:t>
            </a:r>
            <a:r>
              <a:rPr lang="en-US" altLang="ko-KR" sz="2000" dirty="0"/>
              <a:t>’</a:t>
            </a:r>
            <a:r>
              <a:rPr lang="ko-KR" altLang="en-US" sz="2000" dirty="0"/>
              <a:t> 열을 인덱스로 설정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en-US" altLang="ko-KR" sz="2000" dirty="0"/>
              <a:t>Stack </a:t>
            </a:r>
            <a:r>
              <a:rPr lang="ko-KR" altLang="en-US" sz="2000" dirty="0"/>
              <a:t>함수를 사용하여 시각화하기 편한 자료로 변형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열 이름 재설정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최종 변환 데이터 출력</a:t>
            </a: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B99D08-4B9D-0468-C579-D0F158A20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441723" cy="467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81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56114-5F8C-FFCB-7C34-EBE9CC71E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11C063-F1E9-073F-ED90-BCDE0A510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가공 및 정제</a:t>
            </a:r>
            <a:r>
              <a:rPr lang="en-US" altLang="ko-KR" b="1" dirty="0"/>
              <a:t>(</a:t>
            </a:r>
            <a:r>
              <a:rPr lang="ko-KR" altLang="en-US" b="1" dirty="0" err="1"/>
              <a:t>전처리</a:t>
            </a:r>
            <a:r>
              <a:rPr lang="en-US" altLang="ko-KR" b="1" dirty="0"/>
              <a:t>_</a:t>
            </a:r>
            <a:r>
              <a:rPr lang="ko-KR" altLang="en-US" b="1" dirty="0"/>
              <a:t>울산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1DBB632-1AE8-19FA-6504-42555297E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3994" y="2681562"/>
            <a:ext cx="5798574" cy="2544286"/>
          </a:xfrm>
        </p:spPr>
        <p:txBody>
          <a:bodyPr wrap="square" anchor="ctr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000" dirty="0"/>
              <a:t>변환 전 기존 데이터를 출력하여 변경할 부분 확인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열 이름 중</a:t>
            </a:r>
            <a:r>
              <a:rPr lang="en-US" altLang="ko-KR" sz="2000" dirty="0"/>
              <a:t>, </a:t>
            </a:r>
            <a:r>
              <a:rPr lang="ko-KR" altLang="en-US" sz="2000" dirty="0"/>
              <a:t>연도에서 </a:t>
            </a:r>
            <a:r>
              <a:rPr lang="en-US" altLang="ko-KR" sz="2000" dirty="0"/>
              <a:t>‘</a:t>
            </a:r>
            <a:r>
              <a:rPr lang="ko-KR" altLang="en-US" sz="2000" dirty="0"/>
              <a:t>년</a:t>
            </a:r>
            <a:r>
              <a:rPr lang="en-US" altLang="ko-KR" sz="2000" dirty="0"/>
              <a:t>’</a:t>
            </a:r>
            <a:r>
              <a:rPr lang="ko-KR" altLang="en-US" sz="2000" dirty="0"/>
              <a:t>을 제거한 정수형</a:t>
            </a:r>
            <a:br>
              <a:rPr lang="en-US" altLang="ko-KR" sz="2000" dirty="0"/>
            </a:br>
            <a:r>
              <a:rPr lang="ko-KR" altLang="en-US" sz="2000" dirty="0"/>
              <a:t>데이터 입력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en-US" altLang="ko-KR" sz="2000" dirty="0"/>
              <a:t>‘</a:t>
            </a:r>
            <a:r>
              <a:rPr lang="ko-KR" altLang="en-US" sz="2000" dirty="0"/>
              <a:t>연도</a:t>
            </a:r>
            <a:r>
              <a:rPr lang="en-US" altLang="ko-KR" sz="2000" dirty="0"/>
              <a:t>’</a:t>
            </a:r>
            <a:r>
              <a:rPr lang="ko-KR" altLang="en-US" sz="2000" dirty="0"/>
              <a:t>를 인덱스로 설정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열 이름 재설정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최종 변환 데이터 출력</a:t>
            </a:r>
          </a:p>
        </p:txBody>
      </p:sp>
      <p:pic>
        <p:nvPicPr>
          <p:cNvPr id="4" name="그림 3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4FE04C-0FE1-C64D-1383-C148836EF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361" y="1846591"/>
            <a:ext cx="4451555" cy="421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68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755C6-7112-ACB5-312C-57BEDF097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FAD8EB-BCEE-B471-F8C0-CB6C16634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시각화 작업</a:t>
            </a:r>
            <a:r>
              <a:rPr lang="en-US" altLang="ko-KR" b="1" dirty="0"/>
              <a:t>(</a:t>
            </a:r>
            <a:r>
              <a:rPr lang="ko-KR" altLang="en-US" b="1" dirty="0"/>
              <a:t>광역시별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1D56087-FD26-43BD-8041-E32FD9D9C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596933"/>
            <a:ext cx="5257800" cy="2949525"/>
          </a:xfrm>
        </p:spPr>
        <p:txBody>
          <a:bodyPr wrap="square" anchor="ctr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000" dirty="0"/>
              <a:t>시각화 작업을 위해 그래프 사이즈를</a:t>
            </a:r>
            <a:br>
              <a:rPr lang="en-US" altLang="ko-KR" sz="2000" dirty="0"/>
            </a:br>
            <a:r>
              <a:rPr lang="ko-KR" altLang="en-US" sz="2000" dirty="0"/>
              <a:t>설정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그래프가 배치될 위치를 설정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시각화 자료 표현 방식 설정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각각 해당 데이터를 </a:t>
            </a:r>
            <a:r>
              <a:rPr lang="en-US" altLang="ko-KR" sz="2000" dirty="0" err="1"/>
              <a:t>sns.barplot</a:t>
            </a:r>
            <a:r>
              <a:rPr lang="ko-KR" altLang="en-US" sz="2000" dirty="0"/>
              <a:t>을</a:t>
            </a:r>
            <a:br>
              <a:rPr lang="en-US" altLang="ko-KR" sz="2000" dirty="0"/>
            </a:br>
            <a:r>
              <a:rPr lang="ko-KR" altLang="en-US" sz="2000" dirty="0"/>
              <a:t>사용하여 시각화 및 배치 위치 설정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※ (</a:t>
            </a:r>
            <a:r>
              <a:rPr lang="ko-KR" altLang="en-US" sz="2000" dirty="0"/>
              <a:t>이때</a:t>
            </a:r>
            <a:r>
              <a:rPr lang="en-US" altLang="ko-KR" sz="2000" dirty="0"/>
              <a:t>, </a:t>
            </a:r>
            <a:r>
              <a:rPr lang="ko-KR" altLang="en-US" sz="2000" dirty="0"/>
              <a:t>색상은 각 지역 대표 색으로 설정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638D13-0DCE-0CF3-10C3-C6D77D990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01800"/>
            <a:ext cx="5105842" cy="450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025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DD06-0451-9A81-8D2F-6D9F0D98E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CFB06-8F63-63FE-EA78-01250FE1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시각화 작업</a:t>
            </a:r>
            <a:r>
              <a:rPr lang="en-US" altLang="ko-KR" b="1" dirty="0"/>
              <a:t>(</a:t>
            </a:r>
            <a:r>
              <a:rPr lang="ko-KR" altLang="en-US" b="1" dirty="0"/>
              <a:t>광역시별</a:t>
            </a:r>
            <a:r>
              <a:rPr lang="en-US" altLang="ko-KR" b="1" dirty="0"/>
              <a:t>_</a:t>
            </a:r>
            <a:r>
              <a:rPr lang="ko-KR" altLang="en-US" b="1" dirty="0"/>
              <a:t>결과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196BDD5-EFCC-65FF-BDF8-7BBC5859B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10515600" cy="449421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3447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77F17-F054-E76A-7130-BAF2BDAFC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DFFB4-D45B-27C8-2BBB-DA95EE98D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시각화 작업</a:t>
            </a:r>
            <a:r>
              <a:rPr lang="en-US" altLang="ko-KR" b="1" dirty="0"/>
              <a:t>(</a:t>
            </a:r>
            <a:r>
              <a:rPr lang="ko-KR" altLang="en-US" b="1" dirty="0"/>
              <a:t>광역시별</a:t>
            </a:r>
            <a:r>
              <a:rPr lang="en-US" altLang="ko-KR" b="1" dirty="0"/>
              <a:t>_</a:t>
            </a:r>
            <a:r>
              <a:rPr lang="ko-KR" altLang="en-US" b="1" dirty="0"/>
              <a:t>결과</a:t>
            </a:r>
            <a:r>
              <a:rPr lang="en-US" altLang="ko-KR" b="1" dirty="0"/>
              <a:t>_</a:t>
            </a:r>
            <a:r>
              <a:rPr lang="ko-KR" altLang="en-US" b="1" dirty="0"/>
              <a:t>인천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D1B1BBE-842D-821C-8B7D-9A1C143554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50109"/>
          <a:stretch>
            <a:fillRect/>
          </a:stretch>
        </p:blipFill>
        <p:spPr bwMode="auto">
          <a:xfrm>
            <a:off x="907906" y="1690688"/>
            <a:ext cx="10376188" cy="442497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4362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460D7-5430-FB69-8AB2-8699F41C2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06C32-6C62-1279-D949-9D390EB70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시각화 작업</a:t>
            </a:r>
            <a:r>
              <a:rPr lang="en-US" altLang="ko-KR" b="1" dirty="0"/>
              <a:t>(</a:t>
            </a:r>
            <a:r>
              <a:rPr lang="ko-KR" altLang="en-US" b="1" dirty="0"/>
              <a:t>광역시별</a:t>
            </a:r>
            <a:r>
              <a:rPr lang="en-US" altLang="ko-KR" b="1" dirty="0"/>
              <a:t>_</a:t>
            </a:r>
            <a:r>
              <a:rPr lang="ko-KR" altLang="en-US" b="1" dirty="0"/>
              <a:t>결과</a:t>
            </a:r>
            <a:r>
              <a:rPr lang="en-US" altLang="ko-KR" b="1" dirty="0"/>
              <a:t>_</a:t>
            </a:r>
            <a:r>
              <a:rPr lang="ko-KR" altLang="en-US" b="1" dirty="0"/>
              <a:t>부산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5BBCE4-CFBD-5876-3EBE-40911E9AC0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50327"/>
          <a:stretch>
            <a:fillRect/>
          </a:stretch>
        </p:blipFill>
        <p:spPr bwMode="auto">
          <a:xfrm>
            <a:off x="838200" y="1789011"/>
            <a:ext cx="10515599" cy="446476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355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14390-5915-9A51-AF1A-6FA50F36B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491997-8F9D-DCCD-3F7F-B08C2BC9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시각화 작업</a:t>
            </a:r>
            <a:r>
              <a:rPr lang="en-US" altLang="ko-KR" b="1" dirty="0"/>
              <a:t>(</a:t>
            </a:r>
            <a:r>
              <a:rPr lang="ko-KR" altLang="en-US" b="1" dirty="0"/>
              <a:t>광역시별</a:t>
            </a:r>
            <a:r>
              <a:rPr lang="en-US" altLang="ko-KR" b="1" dirty="0"/>
              <a:t>_</a:t>
            </a:r>
            <a:r>
              <a:rPr lang="ko-KR" altLang="en-US" b="1" dirty="0"/>
              <a:t>결과</a:t>
            </a:r>
            <a:r>
              <a:rPr lang="en-US" altLang="ko-KR" b="1" dirty="0"/>
              <a:t>_</a:t>
            </a:r>
            <a:r>
              <a:rPr lang="ko-KR" altLang="en-US" b="1" dirty="0"/>
              <a:t>광주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1D35E1-6A28-293F-F17D-62EAA75076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29" r="50000"/>
          <a:stretch>
            <a:fillRect/>
          </a:stretch>
        </p:blipFill>
        <p:spPr bwMode="auto">
          <a:xfrm>
            <a:off x="803404" y="1690688"/>
            <a:ext cx="10585192" cy="449421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9422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B6ECD-809F-BEBB-BAE7-0199E48DF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22E4-3A64-6EB6-B266-F4BF01915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시각화 작업</a:t>
            </a:r>
            <a:r>
              <a:rPr lang="en-US" altLang="ko-KR" b="1" dirty="0"/>
              <a:t>(</a:t>
            </a:r>
            <a:r>
              <a:rPr lang="ko-KR" altLang="en-US" b="1" dirty="0"/>
              <a:t>광역시별</a:t>
            </a:r>
            <a:r>
              <a:rPr lang="en-US" altLang="ko-KR" b="1" dirty="0"/>
              <a:t>_</a:t>
            </a:r>
            <a:r>
              <a:rPr lang="ko-KR" altLang="en-US" b="1" dirty="0"/>
              <a:t>결과</a:t>
            </a:r>
            <a:r>
              <a:rPr lang="en-US" altLang="ko-KR" b="1" dirty="0"/>
              <a:t>_</a:t>
            </a:r>
            <a:r>
              <a:rPr lang="ko-KR" altLang="en-US" b="1" dirty="0"/>
              <a:t>울산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BDA17E-66B5-6A84-213A-A1283D7884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36" t="49890" b="1"/>
          <a:stretch>
            <a:fillRect/>
          </a:stretch>
        </p:blipFill>
        <p:spPr bwMode="auto">
          <a:xfrm>
            <a:off x="838201" y="1595074"/>
            <a:ext cx="10515599" cy="458982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8487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0CB0D-D938-5D03-9531-D34CD46EE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C6CE37-1339-029C-915B-7000D05A1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시각화 작업</a:t>
            </a:r>
            <a:r>
              <a:rPr lang="en-US" altLang="ko-KR" b="1" dirty="0"/>
              <a:t>(</a:t>
            </a:r>
            <a:r>
              <a:rPr lang="ko-KR" altLang="en-US" b="1" dirty="0"/>
              <a:t>전국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3B94853-B1B4-7323-A08B-9DB289E55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893494"/>
            <a:ext cx="5257800" cy="1862048"/>
          </a:xfrm>
        </p:spPr>
        <p:txBody>
          <a:bodyPr wrap="square" anchor="ctr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000" dirty="0"/>
              <a:t>각 데이터 프레임에 </a:t>
            </a:r>
            <a:r>
              <a:rPr lang="en-US" altLang="ko-KR" sz="2000" dirty="0"/>
              <a:t>‘</a:t>
            </a:r>
            <a:r>
              <a:rPr lang="ko-KR" altLang="en-US" sz="2000" dirty="0"/>
              <a:t>도시</a:t>
            </a:r>
            <a:r>
              <a:rPr lang="en-US" altLang="ko-KR" sz="2000" dirty="0"/>
              <a:t>‘ </a:t>
            </a:r>
            <a:r>
              <a:rPr lang="ko-KR" altLang="en-US" sz="2000" dirty="0"/>
              <a:t>열 추가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네 도시의 데이터를 하나로 총합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그래프 사이즈 설정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그래프의 </a:t>
            </a:r>
            <a:r>
              <a:rPr lang="en-US" altLang="ko-KR" sz="2000" dirty="0"/>
              <a:t>x, y </a:t>
            </a:r>
            <a:r>
              <a:rPr lang="ko-KR" altLang="en-US" sz="2000" dirty="0"/>
              <a:t>좌표 값을 설정해주고</a:t>
            </a:r>
            <a:br>
              <a:rPr lang="en-US" altLang="ko-KR" sz="2000" dirty="0"/>
            </a:br>
            <a:r>
              <a:rPr lang="ko-KR" altLang="en-US" sz="2000" dirty="0"/>
              <a:t>범주형 데이터로 </a:t>
            </a:r>
            <a:r>
              <a:rPr lang="en-US" altLang="ko-KR" sz="2000" dirty="0"/>
              <a:t>‘</a:t>
            </a:r>
            <a:r>
              <a:rPr lang="ko-KR" altLang="en-US" sz="2000" dirty="0"/>
              <a:t>도시</a:t>
            </a:r>
            <a:r>
              <a:rPr lang="en-US" altLang="ko-KR" sz="2000" dirty="0"/>
              <a:t>’</a:t>
            </a:r>
            <a:r>
              <a:rPr lang="ko-KR" altLang="en-US" sz="2000" dirty="0"/>
              <a:t>열을 선택</a:t>
            </a:r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DAA8A6-7D98-48EA-A609-A1F53D021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4962"/>
            <a:ext cx="5029902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61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70A4E-7CE7-98B0-748C-94AB5ABA7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A2808-3E60-87EB-2E1D-A2C8DA00B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시각화 작업</a:t>
            </a:r>
            <a:r>
              <a:rPr lang="en-US" altLang="ko-KR" b="1" dirty="0"/>
              <a:t>(</a:t>
            </a:r>
            <a:r>
              <a:rPr lang="ko-KR" altLang="en-US" b="1" dirty="0"/>
              <a:t>전국</a:t>
            </a:r>
            <a:r>
              <a:rPr lang="en-US" altLang="ko-KR" b="1" dirty="0"/>
              <a:t>_</a:t>
            </a:r>
            <a:r>
              <a:rPr lang="ko-KR" altLang="en-US" b="1" dirty="0"/>
              <a:t>결과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64FF51-641E-404F-B2D4-2B5B88A3E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139" y="1977844"/>
            <a:ext cx="9641721" cy="442134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03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23384-AFED-F287-9060-5B6B8AC2A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1CE842-A4B6-3C0A-6F97-C722B7255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머신러닝</a:t>
            </a:r>
            <a:r>
              <a:rPr lang="en-US" altLang="ko-KR" b="1" dirty="0"/>
              <a:t>(</a:t>
            </a:r>
            <a:r>
              <a:rPr lang="ko-KR" altLang="en-US" b="1" dirty="0"/>
              <a:t>인천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14DE06-482F-4BFD-9B5D-6C04B0F7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000"/>
          <a:stretch/>
        </p:blipFill>
        <p:spPr>
          <a:xfrm>
            <a:off x="658319" y="1846373"/>
            <a:ext cx="5364060" cy="45415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2D61C1D-8277-4FAB-AC4E-EE1BAB1AF9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000"/>
          <a:stretch/>
        </p:blipFill>
        <p:spPr>
          <a:xfrm>
            <a:off x="6183684" y="1846373"/>
            <a:ext cx="5364060" cy="454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33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67DDC01-67B8-87FC-D38E-D7A5C63B2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b="1" dirty="0" err="1"/>
              <a:t>머신러닝</a:t>
            </a:r>
            <a:r>
              <a:rPr lang="en-US" altLang="ko-KR" b="1" dirty="0"/>
              <a:t>(</a:t>
            </a:r>
            <a:r>
              <a:rPr lang="ko-KR" altLang="en-US" b="1" dirty="0"/>
              <a:t>인천</a:t>
            </a:r>
            <a:r>
              <a:rPr lang="en-US" altLang="ko-KR" b="1" dirty="0"/>
              <a:t>_</a:t>
            </a:r>
            <a:r>
              <a:rPr lang="ko-KR" altLang="en-US" b="1" dirty="0"/>
              <a:t>결과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31A45C2-EFE9-420A-8E68-63CCE762C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370" y="3029036"/>
            <a:ext cx="3371747" cy="18142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52B85A10-2CC9-4D28-A2C4-2E8C5784D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765" y="1909522"/>
            <a:ext cx="6711065" cy="436144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534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92F92-28DE-008D-8CA5-D935FCC7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91DB36B-9C80-2C5D-0D2E-7B80F733A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b="1" dirty="0"/>
              <a:t>결론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A4198DF5-FE18-E6C4-4A0B-AC3DF9FE1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683" y="2117051"/>
            <a:ext cx="10220633" cy="3732304"/>
          </a:xfrm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lang="ko-KR" altLang="en-US" sz="2200" b="1" dirty="0">
                <a:latin typeface="+mn-ea"/>
              </a:rPr>
              <a:t>시각화를 하여 본 결과</a:t>
            </a:r>
            <a:r>
              <a:rPr lang="en-US" altLang="ko-KR" sz="2200" b="1" dirty="0">
                <a:latin typeface="+mn-ea"/>
              </a:rPr>
              <a:t>,</a:t>
            </a:r>
            <a:r>
              <a:rPr lang="ko-KR" altLang="en-US" sz="2200" b="1" dirty="0">
                <a:latin typeface="+mn-ea"/>
              </a:rPr>
              <a:t> 인천에선 </a:t>
            </a:r>
            <a:r>
              <a:rPr lang="ko-KR" altLang="en-US" sz="2200" b="1" dirty="0" err="1">
                <a:latin typeface="+mn-ea"/>
              </a:rPr>
              <a:t>미추홀구</a:t>
            </a:r>
            <a:r>
              <a:rPr lang="en-US" altLang="ko-KR" sz="2200" b="1" dirty="0">
                <a:latin typeface="+mn-ea"/>
              </a:rPr>
              <a:t>, </a:t>
            </a:r>
            <a:r>
              <a:rPr lang="ko-KR" altLang="en-US" sz="2200" b="1" dirty="0">
                <a:latin typeface="+mn-ea"/>
              </a:rPr>
              <a:t>부산에선 부산진구</a:t>
            </a:r>
            <a:r>
              <a:rPr lang="en-US" altLang="ko-KR" sz="2200" b="1" dirty="0">
                <a:latin typeface="+mn-ea"/>
              </a:rPr>
              <a:t>,</a:t>
            </a:r>
          </a:p>
          <a:p>
            <a:pPr marL="0" indent="0">
              <a:buNone/>
            </a:pPr>
            <a:r>
              <a:rPr lang="ko-KR" altLang="en-US" sz="2200" b="1" dirty="0">
                <a:latin typeface="+mn-ea"/>
              </a:rPr>
              <a:t>광주는 광산구</a:t>
            </a:r>
            <a:r>
              <a:rPr lang="en-US" altLang="ko-KR" sz="2200" b="1" dirty="0">
                <a:latin typeface="+mn-ea"/>
              </a:rPr>
              <a:t>, </a:t>
            </a:r>
            <a:r>
              <a:rPr lang="ko-KR" altLang="en-US" sz="2200" b="1" dirty="0">
                <a:latin typeface="+mn-ea"/>
              </a:rPr>
              <a:t>울산은 남구에서 가장 많은 전세사기를 당하였다</a:t>
            </a:r>
            <a:r>
              <a:rPr lang="en-US" altLang="ko-KR" sz="2200" b="1" dirty="0">
                <a:latin typeface="+mn-ea"/>
              </a:rPr>
              <a:t>.</a:t>
            </a:r>
            <a:endParaRPr lang="ko-KR" altLang="en-US" sz="2200" b="1" dirty="0">
              <a:latin typeface="+mn-ea"/>
            </a:endParaRPr>
          </a:p>
          <a:p>
            <a:pPr marL="0" indent="0">
              <a:buNone/>
            </a:pPr>
            <a:endParaRPr lang="ko-KR" altLang="en-US" sz="2200" b="1" dirty="0">
              <a:latin typeface="+mn-ea"/>
            </a:endParaRPr>
          </a:p>
          <a:p>
            <a:pPr marL="0" indent="0">
              <a:buNone/>
            </a:pPr>
            <a:r>
              <a:rPr lang="ko-KR" altLang="en-US" sz="2200" b="1" dirty="0">
                <a:latin typeface="+mn-ea"/>
              </a:rPr>
              <a:t>전국적으로는 인천이 가장 높은 사기율을 보였고</a:t>
            </a:r>
            <a:r>
              <a:rPr lang="en-US" altLang="ko-KR" sz="2200" b="1" dirty="0">
                <a:latin typeface="+mn-ea"/>
              </a:rPr>
              <a:t>, </a:t>
            </a:r>
            <a:r>
              <a:rPr lang="ko-KR" altLang="en-US" sz="2200" b="1" dirty="0">
                <a:latin typeface="+mn-ea"/>
              </a:rPr>
              <a:t>두 번째는 부산</a:t>
            </a:r>
            <a:r>
              <a:rPr lang="en-US" altLang="ko-KR" sz="2200" b="1" dirty="0">
                <a:latin typeface="+mn-ea"/>
              </a:rPr>
              <a:t>,</a:t>
            </a:r>
          </a:p>
          <a:p>
            <a:pPr marL="0" indent="0">
              <a:buNone/>
            </a:pPr>
            <a:r>
              <a:rPr lang="ko-KR" altLang="en-US" sz="2200" b="1" dirty="0">
                <a:latin typeface="+mn-ea"/>
              </a:rPr>
              <a:t>세 번째는 광주</a:t>
            </a:r>
            <a:r>
              <a:rPr lang="en-US" altLang="ko-KR" sz="2200" b="1" dirty="0">
                <a:latin typeface="+mn-ea"/>
              </a:rPr>
              <a:t>, </a:t>
            </a:r>
            <a:r>
              <a:rPr lang="ko-KR" altLang="en-US" sz="2200" b="1" dirty="0">
                <a:latin typeface="+mn-ea"/>
              </a:rPr>
              <a:t>마지막으로 울산이었다</a:t>
            </a:r>
            <a:r>
              <a:rPr lang="en-US" altLang="ko-KR" sz="2200" b="1" dirty="0">
                <a:latin typeface="+mn-ea"/>
              </a:rPr>
              <a:t>.</a:t>
            </a:r>
            <a:endParaRPr lang="ko-KR" altLang="en-US" sz="2200" b="1" dirty="0">
              <a:latin typeface="+mn-ea"/>
            </a:endParaRPr>
          </a:p>
          <a:p>
            <a:pPr marL="0" indent="0">
              <a:buNone/>
            </a:pPr>
            <a:endParaRPr lang="en-US" altLang="ko-KR" sz="2200" b="1" dirty="0">
              <a:latin typeface="+mn-ea"/>
            </a:endParaRPr>
          </a:p>
          <a:p>
            <a:pPr marL="0" indent="0">
              <a:buNone/>
            </a:pPr>
            <a:r>
              <a:rPr lang="ko-KR" altLang="en-US" sz="2200" b="1" dirty="0" err="1">
                <a:latin typeface="+mn-ea"/>
              </a:rPr>
              <a:t>머신러닝은</a:t>
            </a:r>
            <a:r>
              <a:rPr lang="ko-KR" altLang="en-US" sz="2200" b="1" dirty="0">
                <a:latin typeface="+mn-ea"/>
              </a:rPr>
              <a:t> 데이터가 적고</a:t>
            </a:r>
            <a:r>
              <a:rPr lang="en-US" altLang="ko-KR" sz="2200" b="1" dirty="0">
                <a:latin typeface="+mn-ea"/>
              </a:rPr>
              <a:t>, </a:t>
            </a:r>
            <a:r>
              <a:rPr lang="ko-KR" altLang="en-US" sz="2200" b="1" dirty="0">
                <a:latin typeface="+mn-ea"/>
              </a:rPr>
              <a:t>편차가 심하다 보니 그리 좋은 성능은 보이지 않지만</a:t>
            </a:r>
            <a:r>
              <a:rPr lang="en-US" altLang="ko-KR" sz="2200" b="1" dirty="0">
                <a:latin typeface="+mn-ea"/>
              </a:rPr>
              <a:t>,</a:t>
            </a:r>
            <a:endParaRPr lang="ko-KR" altLang="en-US" sz="2200" b="1" dirty="0">
              <a:latin typeface="+mn-ea"/>
            </a:endParaRPr>
          </a:p>
          <a:p>
            <a:pPr marL="0" indent="0">
              <a:buNone/>
            </a:pPr>
            <a:r>
              <a:rPr lang="ko-KR" altLang="en-US" sz="2200" b="1" dirty="0">
                <a:latin typeface="+mn-ea"/>
              </a:rPr>
              <a:t>요즘 전세사기 예방</a:t>
            </a:r>
            <a:r>
              <a:rPr lang="en-US" altLang="ko-KR" sz="2200" b="1" dirty="0">
                <a:latin typeface="+mn-ea"/>
              </a:rPr>
              <a:t>, </a:t>
            </a:r>
            <a:r>
              <a:rPr lang="ko-KR" altLang="en-US" sz="2200" b="1" dirty="0">
                <a:latin typeface="+mn-ea"/>
              </a:rPr>
              <a:t>방지 시스템 등이 잘 마련되고 있으니 그렇게 틀린 내용도 아니라는</a:t>
            </a:r>
            <a:r>
              <a:rPr lang="en-US" altLang="ko-KR" sz="2200" b="1" dirty="0">
                <a:latin typeface="+mn-ea"/>
              </a:rPr>
              <a:t> </a:t>
            </a:r>
            <a:r>
              <a:rPr lang="ko-KR" altLang="en-US" sz="2200" b="1" dirty="0">
                <a:latin typeface="+mn-ea"/>
              </a:rPr>
              <a:t>생각이 든다</a:t>
            </a:r>
            <a:r>
              <a:rPr lang="en-US" altLang="ko-KR" sz="2200" b="1" dirty="0">
                <a:latin typeface="+mn-ea"/>
              </a:rPr>
              <a:t>.</a:t>
            </a:r>
            <a:endParaRPr lang="ko-KR" altLang="en-US" sz="2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0283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EB9832-28FD-B9CA-0014-9413238E65A8}"/>
              </a:ext>
            </a:extLst>
          </p:cNvPr>
          <p:cNvSpPr txBox="1"/>
          <p:nvPr/>
        </p:nvSpPr>
        <p:spPr>
          <a:xfrm>
            <a:off x="3905221" y="3075057"/>
            <a:ext cx="4381558" cy="70788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감사합니다</a:t>
            </a:r>
          </a:p>
        </p:txBody>
      </p:sp>
      <p:sp>
        <p:nvSpPr>
          <p:cNvPr id="5" name="TextBox 4">
            <a:hlinkClick r:id="rId2"/>
            <a:extLst>
              <a:ext uri="{FF2B5EF4-FFF2-40B4-BE49-F238E27FC236}">
                <a16:creationId xmlns:a16="http://schemas.microsoft.com/office/drawing/2014/main" id="{227FFB38-073C-60AD-86B4-B864075416B2}"/>
              </a:ext>
            </a:extLst>
          </p:cNvPr>
          <p:cNvSpPr txBox="1"/>
          <p:nvPr/>
        </p:nvSpPr>
        <p:spPr>
          <a:xfrm>
            <a:off x="3048866" y="4216724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u="sng" dirty="0">
                <a:solidFill>
                  <a:schemeClr val="accent5"/>
                </a:solidFill>
              </a:rPr>
              <a:t>https://github.com/oneiric577/BigData-Project_2025</a:t>
            </a:r>
          </a:p>
        </p:txBody>
      </p:sp>
    </p:spTree>
    <p:extLst>
      <p:ext uri="{BB962C8B-B14F-4D97-AF65-F5344CB8AC3E}">
        <p14:creationId xmlns:p14="http://schemas.microsoft.com/office/powerpoint/2010/main" val="38014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6D532C7DD30944F8CCAEEDA63AD626C" ma:contentTypeVersion="5" ma:contentTypeDescription="새 문서를 만듭니다." ma:contentTypeScope="" ma:versionID="1f10d3cde8a6ff8d064f43218eea0c1d">
  <xsd:schema xmlns:xsd="http://www.w3.org/2001/XMLSchema" xmlns:xs="http://www.w3.org/2001/XMLSchema" xmlns:p="http://schemas.microsoft.com/office/2006/metadata/properties" xmlns:ns3="13133be1-4c8f-4c83-bb28-03372e41784e" targetNamespace="http://schemas.microsoft.com/office/2006/metadata/properties" ma:root="true" ma:fieldsID="7cb228e73465844895073f49d2a67b87" ns3:_="">
    <xsd:import namespace="13133be1-4c8f-4c83-bb28-03372e41784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133be1-4c8f-4c83-bb28-03372e4178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F90837-D0E2-4B54-B08D-91249A9C2249}">
  <ds:schemaRefs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13133be1-4c8f-4c83-bb28-03372e41784e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7A57282-86C6-4631-96A9-D12E6BF620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49CC57-E11C-4F3C-ABED-50613830BE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133be1-4c8f-4c83-bb28-03372e4178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Words>563</Words>
  <Application>Microsoft Office PowerPoint</Application>
  <PresentationFormat>와이드스크린</PresentationFormat>
  <Paragraphs>82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HY중고딕</vt:lpstr>
      <vt:lpstr>HY헤드라인M</vt:lpstr>
      <vt:lpstr>맑은 고딕</vt:lpstr>
      <vt:lpstr>Arial</vt:lpstr>
      <vt:lpstr>Office 테마</vt:lpstr>
      <vt:lpstr>PowerPoint 프레젠테이션</vt:lpstr>
      <vt:lpstr>주제 선정 이유</vt:lpstr>
      <vt:lpstr>프로젝트 범위</vt:lpstr>
      <vt:lpstr>데이터 수집</vt:lpstr>
      <vt:lpstr>데이터 가공 및 정제(전처리_인천)</vt:lpstr>
      <vt:lpstr>데이터 가공 및 정제(전처리_부산)</vt:lpstr>
      <vt:lpstr>데이터 가공 및 정제(전처리_광주)</vt:lpstr>
      <vt:lpstr>데이터 가공 및 정제(전처리_울산)</vt:lpstr>
      <vt:lpstr>시각화 작업(광역시별)</vt:lpstr>
      <vt:lpstr>시각화 작업(광역시별_결과)</vt:lpstr>
      <vt:lpstr>시각화 작업(광역시별_결과_인천)</vt:lpstr>
      <vt:lpstr>시각화 작업(광역시별_결과_부산)</vt:lpstr>
      <vt:lpstr>시각화 작업(광역시별_결과_광주)</vt:lpstr>
      <vt:lpstr>시각화 작업(광역시별_결과_울산)</vt:lpstr>
      <vt:lpstr>시각화 작업(전국)</vt:lpstr>
      <vt:lpstr>시각화 작업(전국_결과)</vt:lpstr>
      <vt:lpstr>머신러닝(인천)</vt:lpstr>
      <vt:lpstr>머신러닝(인천_결과)</vt:lpstr>
      <vt:lpstr>결론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성수 김</dc:creator>
  <cp:lastModifiedBy>김성수[컴퓨터정보공학과]</cp:lastModifiedBy>
  <cp:revision>17</cp:revision>
  <dcterms:created xsi:type="dcterms:W3CDTF">2025-09-17T07:19:26Z</dcterms:created>
  <dcterms:modified xsi:type="dcterms:W3CDTF">2025-12-04T12:06:36Z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0x01010066D532C7DD30944F8CCAEEDA63AD626C</vt:lpwstr>
  </property>
</Properties>
</file>